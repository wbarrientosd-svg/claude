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image" Target="../media/image-4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1.png"/><Relationship Id="rId4" Type="http://schemas.openxmlformats.org/officeDocument/2006/relationships/image" Target="../media/image-9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2.png"/><Relationship Id="rId4" Type="http://schemas.openxmlformats.org/officeDocument/2006/relationships/image" Target="../media/image-10-2.png"/><Relationship Id="rId5" Type="http://schemas.openxmlformats.org/officeDocument/2006/relationships/image" Target="../media/image-10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0047AB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548640"/>
            <a:ext cx="2926080" cy="2926080"/>
          </a:xfrm>
          <a:prstGeom prst="ellipse">
            <a:avLst/>
          </a:prstGeom>
          <a:solidFill>
            <a:srgbClr val="00338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DB9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LEONES QUINTA NORMAL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de Arriendo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piloto de 90 días — Dependencias Z-144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3566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9B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 "Leones en Acción"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4846320"/>
            <a:ext cx="457200" cy="457200"/>
          </a:xfrm>
          <a:prstGeom prst="ellipse">
            <a:avLst/>
          </a:prstGeom>
          <a:solidFill>
            <a:srgbClr val="FDB913"/>
          </a:solidFill>
          <a:ln/>
        </p:spPr>
      </p:sp>
      <p:pic>
        <p:nvPicPr>
          <p:cNvPr id="9" name="Image 0" descr="/tmp/claude-0/-home-user-claude/0923df48-5d83-51f5-979f-5e84a3f1a801/scratchpad/ppt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4992624"/>
            <a:ext cx="164592" cy="16459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63040" y="486460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a la Junta Directiva  ·  Septiembre de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DB9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 y propósito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levantamiento técnico de Libardo Fernández entregó dimensiones, distribución y necesidades de conservación del inmueble.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606040"/>
            <a:ext cx="6035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001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informe da el siguiente paso: </a:t>
            </a:r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convierte ese levantamiento en una oferta de arriendo clara, controlada y medible, capaz de generar recursos para conservar la sede sin interferir con la actividad del Club.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040880" y="1645920"/>
            <a:ext cx="4572000" cy="4023360"/>
          </a:xfrm>
          <a:prstGeom prst="roundRect">
            <a:avLst>
              <a:gd name="adj" fmla="val 2727"/>
            </a:avLst>
          </a:prstGeom>
          <a:solidFill>
            <a:srgbClr val="E9F0FA"/>
          </a:solidFill>
          <a:ln/>
          <a:effectLst>
            <a:outerShdw sx="100000" sy="100000" kx="0" ky="0" algn="bl" rotWithShape="0" blurRad="101600" dist="38100" dir="5400000">
              <a:srgbClr val="999999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406640" y="1965960"/>
            <a:ext cx="548640" cy="548640"/>
          </a:xfrm>
          <a:prstGeom prst="ellipse">
            <a:avLst/>
          </a:prstGeom>
          <a:solidFill>
            <a:srgbClr val="00338D"/>
          </a:solidFill>
          <a:ln/>
        </p:spPr>
      </p:sp>
      <p:pic>
        <p:nvPicPr>
          <p:cNvPr id="8" name="Image 0" descr="/tmp/claude-0/-home-user-claude/0923df48-5d83-51f5-979f-5e84a3f1a801/scratchpad/ppt/icons/buil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52944" y="2112264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138160" y="199339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Salón principal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223760" y="269748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1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 m²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7406640" y="352044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 × 8,70 m aproximados — el espacio con mayor capacidad y mejor posibilidad de ingresos.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406640" y="448056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reemplaza una medición arquitectónica, regularización municipal ni certificación de aforo.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Leones Quinta Normal  ·  Modelo de arriendo Z-144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DB9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Recomendación central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00338D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65960"/>
            <a:ext cx="685800" cy="685800"/>
          </a:xfrm>
          <a:prstGeom prst="ellipse">
            <a:avLst/>
          </a:prstGeom>
          <a:solidFill>
            <a:srgbClr val="FDB913"/>
          </a:solidFill>
          <a:ln/>
        </p:spPr>
      </p:sp>
      <p:pic>
        <p:nvPicPr>
          <p:cNvPr id="6" name="Image 0" descr="/tmp/claude-0/-home-user-claude/0923df48-5d83-51f5-979f-5e84a3f1a801/scratchpad/ppt/icons/f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112264"/>
            <a:ext cx="393192" cy="3931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783080"/>
            <a:ext cx="9601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Aprobar un piloto de arriendo de 90 días, concentrado primero en el salón principal y en toda sala que apruebe antes una verificación de habilitación. Tarifario mínimo y transitorio, revisado con evidencia real de ocupación, costos e incidencias.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38328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E9F0FA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70332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1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días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685800" y="452628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del piloto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383280" y="338328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E9F0FA"/>
          </a:solidFill>
          <a:ln/>
        </p:spPr>
      </p:sp>
      <p:sp>
        <p:nvSpPr>
          <p:cNvPr id="12" name="Text 9"/>
          <p:cNvSpPr/>
          <p:nvPr/>
        </p:nvSpPr>
        <p:spPr>
          <a:xfrm>
            <a:off x="3383280" y="370332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1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 m²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3520440" y="452628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Salón principal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217920" y="338328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E9F0FA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0" y="370332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1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personas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355080" y="452628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comercial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9052560" y="338328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E9F0FA"/>
          </a:solidFill>
          <a:ln/>
        </p:spPr>
      </p:sp>
      <p:sp>
        <p:nvSpPr>
          <p:cNvPr id="18" name="Text 15"/>
          <p:cNvSpPr/>
          <p:nvPr/>
        </p:nvSpPr>
        <p:spPr>
          <a:xfrm>
            <a:off x="9052560" y="370332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1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$100.000</a:t>
            </a:r>
            <a:endParaRPr lang="en-US" sz="3200" dirty="0"/>
          </a:p>
        </p:txBody>
      </p:sp>
      <p:sp>
        <p:nvSpPr>
          <p:cNvPr id="19" name="Text 16"/>
          <p:cNvSpPr/>
          <p:nvPr/>
        </p:nvSpPr>
        <p:spPr>
          <a:xfrm>
            <a:off x="9189720" y="452628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 base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Leones Quinta Normal  ·  Modelo de arriendo Z-144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DB9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la Junta decide hoy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46504"/>
            <a:ext cx="457200" cy="457200"/>
          </a:xfrm>
          <a:prstGeom prst="ellipse">
            <a:avLst/>
          </a:prstGeom>
          <a:solidFill>
            <a:srgbClr val="00338D"/>
          </a:solidFill>
          <a:ln/>
        </p:spPr>
      </p:sp>
      <p:pic>
        <p:nvPicPr>
          <p:cNvPr id="5" name="Image 0" descr="/tmp/claude-0/-home-user-claude/0923df48-5d83-51f5-979f-5e84a3f1a801/scratchpad/ppt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892808"/>
            <a:ext cx="164592" cy="16459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691640"/>
            <a:ext cx="10332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Aprobar el tarifario, las garantías, las reservas y las políticas operativas del piloto.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642616"/>
            <a:ext cx="457200" cy="457200"/>
          </a:xfrm>
          <a:prstGeom prst="ellipse">
            <a:avLst/>
          </a:prstGeom>
          <a:solidFill>
            <a:srgbClr val="00338D"/>
          </a:solidFill>
          <a:ln/>
        </p:spPr>
      </p:sp>
      <p:pic>
        <p:nvPicPr>
          <p:cNvPr id="8" name="Image 1" descr="/tmp/claude-0/-home-user-claude/0923df48-5d83-51f5-979f-5e84a3f1a801/scratchpad/ppt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788920"/>
            <a:ext cx="164592" cy="1645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587752"/>
            <a:ext cx="10332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Autorizar el salón principal como activo comercial prioritario, con un mínimo de 4 horas por reserva.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538728"/>
            <a:ext cx="457200" cy="457200"/>
          </a:xfrm>
          <a:prstGeom prst="ellipse">
            <a:avLst/>
          </a:prstGeom>
          <a:solidFill>
            <a:srgbClr val="00338D"/>
          </a:solidFill>
          <a:ln/>
        </p:spPr>
      </p:sp>
      <p:pic>
        <p:nvPicPr>
          <p:cNvPr id="11" name="Image 2" descr="/tmp/claude-0/-home-user-claude/0923df48-5d83-51f5-979f-5e84a3f1a801/scratchpad/ppt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685032"/>
            <a:ext cx="164592" cy="16459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3483864"/>
            <a:ext cx="10332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Condicionar las salas auxiliares a una verificación previa de seguridad y funcionamiento.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00338D"/>
          </a:solidFill>
          <a:ln/>
        </p:spPr>
      </p:sp>
      <p:pic>
        <p:nvPicPr>
          <p:cNvPr id="14" name="Image 3" descr="/tmp/claude-0/-home-user-claude/0923df48-5d83-51f5-979f-5e84a3f1a801/scratchpad/ppt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581144"/>
            <a:ext cx="164592" cy="16459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4379976"/>
            <a:ext cx="10332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Designar a los responsables provisionales de reservas, pagos, inventario, entrega y recepción.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548640" y="5330952"/>
            <a:ext cx="457200" cy="457200"/>
          </a:xfrm>
          <a:prstGeom prst="ellipse">
            <a:avLst/>
          </a:prstGeom>
          <a:solidFill>
            <a:srgbClr val="00338D"/>
          </a:solidFill>
          <a:ln/>
        </p:spPr>
      </p:sp>
      <p:pic>
        <p:nvPicPr>
          <p:cNvPr id="17" name="Image 4" descr="/tmp/claude-0/-home-user-claude/0923df48-5d83-51f5-979f-5e84a3f1a801/scratchpad/ppt/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477256"/>
            <a:ext cx="164592" cy="16459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34440" y="5276088"/>
            <a:ext cx="103327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Fijar la revisión mensual de resultados y la decisión de continuidad al día 90.</a:t>
            </a:r>
            <a:endParaRPr lang="en-US" sz="1600" dirty="0"/>
          </a:p>
        </p:txBody>
      </p:sp>
      <p:sp>
        <p:nvSpPr>
          <p:cNvPr id="19" name="Text 1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Leones Quinta Normal  ·  Modelo de arriendo Z-144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DB9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VALOR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espacio comunitario, funcional y accesible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Compite por ubicación, flexibilidad, trato directo, precio transparente y contribución a la labor social del Club.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94960" cy="4206240"/>
          </a:xfrm>
          <a:prstGeom prst="roundRect">
            <a:avLst>
              <a:gd name="adj" fmla="val 2174"/>
            </a:avLst>
          </a:prstGeom>
          <a:solidFill>
            <a:srgbClr val="E9F0FA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9456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Usos prioritarios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Reuniones de organizaciones, comunidades y equipos.</a:t>
            </a:r>
            <a:endParaRPr lang="en-US" sz="14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Talleres, clases y capacitaciones recurrentes (ej. karate).</a:t>
            </a:r>
            <a:endParaRPr lang="en-US" sz="14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Celebraciones familiares y ceremonias privadas.</a:t>
            </a:r>
            <a:endParaRPr lang="en-US" sz="14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institucionales del propio Club.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0" y="2011680"/>
            <a:ext cx="5394960" cy="4206240"/>
          </a:xfrm>
          <a:prstGeom prst="roundRect">
            <a:avLst>
              <a:gd name="adj" fmla="val 2174"/>
            </a:avLst>
          </a:prstGeom>
          <a:solidFill>
            <a:srgbClr val="FFF6DF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219456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Incluido en el arriendo base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37960" y="269748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exclusivo del espacio durante el bloque contratado.</a:t>
            </a:r>
            <a:endParaRPr lang="en-US" sz="14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Baños, electricidad normal, wifi, TV y audio básico.</a:t>
            </a:r>
            <a:endParaRPr lang="en-US" sz="14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coordinado y acta de entrega y recepción.</a:t>
            </a:r>
            <a:endParaRPr lang="en-US" sz="1450" dirty="0"/>
          </a:p>
          <a:p>
            <a:pPr marL="342900" indent="-342900">
              <a:lnSpc>
                <a:spcPct val="135000"/>
              </a:lnSpc>
              <a:spcAft>
                <a:spcPts val="1000"/>
              </a:spcAft>
              <a:buSzPct val="100000"/>
              <a:buChar char="●"/>
            </a:pPr>
            <a:r>
              <a:rPr lang="en-US" sz="145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Estacionamiento público exterior, sin custodia del Club.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Leones Quinta Normal  ·  Modelo de arriendo Z-144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DB9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TARIFARIO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Tarifario del piloto — Salón principal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1920240"/>
        </p:xfrm>
        <a:graphic>
          <a:graphicData uri="http://schemas.openxmlformats.org/drawingml/2006/table">
            <a:tbl>
              <a:tblPr/>
              <a:tblGrid>
                <a:gridCol w="3291840"/>
                <a:gridCol w="1920240"/>
                <a:gridCol w="1920240"/>
                <a:gridCol w="1920240"/>
                <a:gridCol w="20116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Franja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Tarifa/hora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 4 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 8 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 adicional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8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Lunes a viernes hasta 18:00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Lunes a viernes desde 18:00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Sábado, domingo y festivo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88620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6DF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402336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1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precio:  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mínimos comerciales para el estado actual del recinto, coherentes con los arriendos históricos de $110.000–$150.000 por jornada.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También se ofrecen: sala auxiliar habilitada, adicionales (mesas, loza, cocina, limpieza) y descuentos para socios, ONG y planes recurrentes.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Leones Quinta Normal  ·  Modelo de arriendo Z-144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DB9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 Y GARANTÍAS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Reservas, pagos y garantías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4114800"/>
          </a:xfrm>
          <a:prstGeom prst="roundRect">
            <a:avLst>
              <a:gd name="adj" fmla="val 2564"/>
            </a:avLst>
          </a:prstGeom>
          <a:solidFill>
            <a:srgbClr val="E9F0F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11680"/>
            <a:ext cx="640080" cy="640080"/>
          </a:xfrm>
          <a:prstGeom prst="ellipse">
            <a:avLst/>
          </a:prstGeom>
          <a:solidFill>
            <a:srgbClr val="00338D"/>
          </a:solidFill>
          <a:ln/>
        </p:spPr>
      </p:sp>
      <p:pic>
        <p:nvPicPr>
          <p:cNvPr id="6" name="Image 0" descr="/tmp/claude-0/-home-user-claude/0923df48-5d83-51f5-979f-5e84a3f1a801/scratchpad/ppt/icons/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15798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7889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3291840"/>
            <a:ext cx="30175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Cotización válida 48 h.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con 50% de pago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aceptación escrita.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0" y="1737360"/>
            <a:ext cx="3566160" cy="4114800"/>
          </a:xfrm>
          <a:prstGeom prst="roundRect">
            <a:avLst>
              <a:gd name="adj" fmla="val 2564"/>
            </a:avLst>
          </a:prstGeom>
          <a:solidFill>
            <a:srgbClr val="E9F0FA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0" y="2011680"/>
            <a:ext cx="640080" cy="640080"/>
          </a:xfrm>
          <a:prstGeom prst="ellipse">
            <a:avLst/>
          </a:prstGeom>
          <a:solidFill>
            <a:srgbClr val="00338D"/>
          </a:solidFill>
          <a:ln/>
        </p:spPr>
      </p:sp>
      <p:pic>
        <p:nvPicPr>
          <p:cNvPr id="11" name="Image 1" descr="/tmp/claude-0/-home-user-claude/0923df48-5d83-51f5-979f-5e84a3f1a801/scratchpad/ppt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157984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72000" y="27889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 por daños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572000" y="3291840"/>
            <a:ext cx="30175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$100.000 base (salón).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a $150.000 con cocina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evento nocturno.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046720" y="1737360"/>
            <a:ext cx="3566160" cy="4114800"/>
          </a:xfrm>
          <a:prstGeom prst="roundRect">
            <a:avLst>
              <a:gd name="adj" fmla="val 2564"/>
            </a:avLst>
          </a:prstGeom>
          <a:solidFill>
            <a:srgbClr val="E9F0FA"/>
          </a:solidFill>
          <a:ln/>
        </p:spPr>
      </p:sp>
      <p:sp>
        <p:nvSpPr>
          <p:cNvPr id="15" name="Shape 11"/>
          <p:cNvSpPr/>
          <p:nvPr/>
        </p:nvSpPr>
        <p:spPr>
          <a:xfrm>
            <a:off x="8321040" y="2011680"/>
            <a:ext cx="640080" cy="640080"/>
          </a:xfrm>
          <a:prstGeom prst="ellipse">
            <a:avLst/>
          </a:prstGeom>
          <a:solidFill>
            <a:srgbClr val="00338D"/>
          </a:solidFill>
          <a:ln/>
        </p:spPr>
      </p:sp>
      <p:pic>
        <p:nvPicPr>
          <p:cNvPr id="16" name="Image 2" descr="/tmp/claude-0/-home-user-claude/0923df48-5d83-51f5-979f-5e84a3f1a801/scratchpad/ppt/icons/b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2157984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21040" y="27889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Cancelación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321040" y="3291840"/>
            <a:ext cx="30175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Devolución progresiva: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con 15+ días,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bajo 72 horas.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Leones Quinta Normal  ·  Modelo de arriendo Z-144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DB9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se administra el piloto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simple, con separación entre aprobación, caja e inventario.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64240" cy="3200400"/>
        </p:xfrm>
        <a:graphic>
          <a:graphicData uri="http://schemas.openxmlformats.org/drawingml/2006/table">
            <a:tbl>
              <a:tblPr/>
              <a:tblGrid>
                <a:gridCol w="6400800"/>
                <a:gridCol w="46634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8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 provisional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8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Recepción y aprobación de reservas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Presidenta Fanny Herrera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 y recepción del recinto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Fanny Herrera o persona designada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Inventario de cocina, mobiliario y loza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Mirta Herrera, domadora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Pagos y devolución de garantía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Eugenio Bastiás, tesorero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Cobro por daños e incidencias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Fanny Herrera + Eugenio Bastiás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0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mensual de resultados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Junta Directiva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Leones Quinta Normal  ·  Modelo de arriendo Z-144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DB9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CRONOGRAMA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Cronograma de 90 días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943100" y="1828800"/>
            <a:ext cx="8503920" cy="0"/>
          </a:xfrm>
          <a:prstGeom prst="line">
            <a:avLst/>
          </a:prstGeom>
          <a:noFill/>
          <a:ln w="31750">
            <a:solidFill>
              <a:srgbClr val="FDB913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668780" y="1554480"/>
            <a:ext cx="548640" cy="548640"/>
          </a:xfrm>
          <a:prstGeom prst="ellipse">
            <a:avLst/>
          </a:prstGeom>
          <a:solidFill>
            <a:srgbClr val="00338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6878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85800" y="224028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E9F0F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350008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0–15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2624328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1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Checklist, inventario, calendario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03420" y="1554480"/>
            <a:ext cx="548640" cy="548640"/>
          </a:xfrm>
          <a:prstGeom prst="ellipse">
            <a:avLst/>
          </a:prstGeom>
          <a:solidFill>
            <a:srgbClr val="00338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0342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520440" y="224028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E9F0FA"/>
          </a:solidFill>
          <a:ln/>
        </p:spPr>
      </p:sp>
      <p:sp>
        <p:nvSpPr>
          <p:cNvPr id="14" name="Text 12"/>
          <p:cNvSpPr/>
          <p:nvPr/>
        </p:nvSpPr>
        <p:spPr>
          <a:xfrm>
            <a:off x="3611880" y="2350008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16–30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11880" y="2624328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1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57600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Primeras reservas limitadas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338060" y="1554480"/>
            <a:ext cx="548640" cy="548640"/>
          </a:xfrm>
          <a:prstGeom prst="ellipse">
            <a:avLst/>
          </a:prstGeom>
          <a:solidFill>
            <a:srgbClr val="00338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3806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355080" y="224028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E9F0FA"/>
          </a:solidFill>
          <a:ln/>
        </p:spPr>
      </p:sp>
      <p:sp>
        <p:nvSpPr>
          <p:cNvPr id="20" name="Text 18"/>
          <p:cNvSpPr/>
          <p:nvPr/>
        </p:nvSpPr>
        <p:spPr>
          <a:xfrm>
            <a:off x="6446520" y="2350008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31–75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46520" y="2624328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1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Operación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2240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Demanda, ingresos, costos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172700" y="1554480"/>
            <a:ext cx="548640" cy="548640"/>
          </a:xfrm>
          <a:prstGeom prst="ellipse">
            <a:avLst/>
          </a:prstGeom>
          <a:solidFill>
            <a:srgbClr val="00338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172700" y="1554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189720" y="2240280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E9F0FA"/>
          </a:solidFill>
          <a:ln/>
        </p:spPr>
      </p:sp>
      <p:sp>
        <p:nvSpPr>
          <p:cNvPr id="26" name="Text 24"/>
          <p:cNvSpPr/>
          <p:nvPr/>
        </p:nvSpPr>
        <p:spPr>
          <a:xfrm>
            <a:off x="9281160" y="2350008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76–90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81160" y="2624328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1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26880" y="3063240"/>
            <a:ext cx="2240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final y ajustes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3977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clave que se medirán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48640" y="4480560"/>
            <a:ext cx="457200" cy="457200"/>
          </a:xfrm>
          <a:prstGeom prst="ellipse">
            <a:avLst/>
          </a:prstGeom>
          <a:solidFill>
            <a:srgbClr val="00338D"/>
          </a:solidFill>
          <a:ln/>
        </p:spPr>
      </p:sp>
      <p:pic>
        <p:nvPicPr>
          <p:cNvPr id="31" name="Image 0" descr="/tmp/claude-0/-home-user-claude/0923df48-5d83-51f5-979f-5e84a3f1a801/scratchpad/ppt/icons/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4626864"/>
            <a:ext cx="164592" cy="164592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1097280" y="4462272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Ocupación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548640" y="5010912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arrendadas / ofrecidas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3383280" y="4480560"/>
            <a:ext cx="457200" cy="457200"/>
          </a:xfrm>
          <a:prstGeom prst="ellipse">
            <a:avLst/>
          </a:prstGeom>
          <a:solidFill>
            <a:srgbClr val="00338D"/>
          </a:solidFill>
          <a:ln/>
        </p:spPr>
      </p:sp>
      <p:pic>
        <p:nvPicPr>
          <p:cNvPr id="35" name="Image 1" descr="/tmp/claude-0/-home-user-claude/0923df48-5d83-51f5-979f-5e84a3f1a801/scratchpad/ppt/icons/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4626864"/>
            <a:ext cx="164592" cy="164592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3931920" y="4462272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por reserva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383280" y="5010912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Positivo, sin subsidio oculto</a:t>
            </a:r>
            <a:endParaRPr lang="en-US" sz="1150" dirty="0"/>
          </a:p>
        </p:txBody>
      </p:sp>
      <p:sp>
        <p:nvSpPr>
          <p:cNvPr id="38" name="Shape 34"/>
          <p:cNvSpPr/>
          <p:nvPr/>
        </p:nvSpPr>
        <p:spPr>
          <a:xfrm>
            <a:off x="6217920" y="4480560"/>
            <a:ext cx="457200" cy="457200"/>
          </a:xfrm>
          <a:prstGeom prst="ellipse">
            <a:avLst/>
          </a:prstGeom>
          <a:solidFill>
            <a:srgbClr val="00338D"/>
          </a:solidFill>
          <a:ln/>
        </p:spPr>
      </p:sp>
      <p:pic>
        <p:nvPicPr>
          <p:cNvPr id="39" name="Image 2" descr="/tmp/claude-0/-home-user-claude/0923df48-5d83-51f5-979f-5e84a3f1a801/scratchpad/ppt/icons/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4224" y="4626864"/>
            <a:ext cx="164592" cy="164592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766560" y="4462272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Incidencias</a:t>
            </a:r>
            <a:endParaRPr lang="en-US" sz="1300" dirty="0"/>
          </a:p>
        </p:txBody>
      </p:sp>
      <p:sp>
        <p:nvSpPr>
          <p:cNvPr id="41" name="Text 36"/>
          <p:cNvSpPr/>
          <p:nvPr/>
        </p:nvSpPr>
        <p:spPr>
          <a:xfrm>
            <a:off x="6217920" y="5010912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a 10%; cero críticas</a:t>
            </a:r>
            <a:endParaRPr lang="en-US" sz="1150" dirty="0"/>
          </a:p>
        </p:txBody>
      </p:sp>
      <p:sp>
        <p:nvSpPr>
          <p:cNvPr id="42" name="Shape 37"/>
          <p:cNvSpPr/>
          <p:nvPr/>
        </p:nvSpPr>
        <p:spPr>
          <a:xfrm>
            <a:off x="9052560" y="4480560"/>
            <a:ext cx="457200" cy="457200"/>
          </a:xfrm>
          <a:prstGeom prst="ellipse">
            <a:avLst/>
          </a:prstGeom>
          <a:solidFill>
            <a:srgbClr val="00338D"/>
          </a:solidFill>
          <a:ln/>
        </p:spPr>
      </p:sp>
      <p:pic>
        <p:nvPicPr>
          <p:cNvPr id="43" name="Image 3" descr="/tmp/claude-0/-home-user-claude/0923df48-5d83-51f5-979f-5e84a3f1a801/scratchpad/ppt/icons/ch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4" y="4626864"/>
            <a:ext cx="164592" cy="164592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9601200" y="4462272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Satisfacción</a:t>
            </a:r>
            <a:endParaRPr lang="en-US" sz="1300" dirty="0"/>
          </a:p>
        </p:txBody>
      </p:sp>
      <p:sp>
        <p:nvSpPr>
          <p:cNvPr id="45" name="Text 39"/>
          <p:cNvSpPr/>
          <p:nvPr/>
        </p:nvSpPr>
        <p:spPr>
          <a:xfrm>
            <a:off x="9052560" y="5010912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inicial 4/5</a:t>
            </a:r>
            <a:endParaRPr lang="en-US" sz="1150" dirty="0"/>
          </a:p>
        </p:txBody>
      </p:sp>
      <p:sp>
        <p:nvSpPr>
          <p:cNvPr id="46" name="Text 4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 de Leones Quinta Normal  ·  Modelo de arriendo Z-144</a:t>
            </a:r>
            <a:endParaRPr lang="en-US" sz="900" dirty="0"/>
          </a:p>
        </p:txBody>
      </p:sp>
      <p:sp>
        <p:nvSpPr>
          <p:cNvPr id="47" name="Text 4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1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4114800"/>
            <a:ext cx="5486400" cy="5486400"/>
          </a:xfrm>
          <a:prstGeom prst="ellipse">
            <a:avLst/>
          </a:prstGeom>
          <a:solidFill>
            <a:srgbClr val="0047AB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822960"/>
            <a:ext cx="685800" cy="685800"/>
          </a:xfrm>
          <a:prstGeom prst="ellipse">
            <a:avLst/>
          </a:prstGeom>
          <a:solidFill>
            <a:srgbClr val="FDB913"/>
          </a:solidFill>
          <a:ln/>
        </p:spPr>
      </p:sp>
      <p:pic>
        <p:nvPicPr>
          <p:cNvPr id="4" name="Image 0" descr="/tmp/claude-0/-home-user-claude/0923df48-5d83-51f5-979f-5e84a3f1a801/scratchpad/ppt/icons/ga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969264"/>
            <a:ext cx="393192" cy="3931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737360" y="8686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Acuerdo propuesto para la Junta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22960" y="196596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FFF6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Junta Directiva aprueba, con carácter piloto por 90 días desde la primera reserva confirmada, el modelo de arriendo, tarifario, garantías, políticas de cancelación, horarios y controles de este informe.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822960" y="3520440"/>
            <a:ext cx="384048" cy="384048"/>
          </a:xfrm>
          <a:prstGeom prst="ellipse">
            <a:avLst/>
          </a:prstGeom>
          <a:solidFill>
            <a:srgbClr val="0047AB"/>
          </a:solidFill>
          <a:ln/>
        </p:spPr>
      </p:sp>
      <p:pic>
        <p:nvPicPr>
          <p:cNvPr id="8" name="Image 1" descr="/tmp/claude-0/-home-user-claude/0923df48-5d83-51f5-979f-5e84a3f1a801/scratchpad/ppt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3666744"/>
            <a:ext cx="91440" cy="914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3502152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Aprobar tarifario, garantías y políticas del piloto.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822960" y="4114800"/>
            <a:ext cx="384048" cy="384048"/>
          </a:xfrm>
          <a:prstGeom prst="ellipse">
            <a:avLst/>
          </a:prstGeom>
          <a:solidFill>
            <a:srgbClr val="0047AB"/>
          </a:solidFill>
          <a:ln/>
        </p:spPr>
      </p:sp>
      <p:pic>
        <p:nvPicPr>
          <p:cNvPr id="11" name="Image 2" descr="/tmp/claude-0/-home-user-claude/0923df48-5d83-51f5-979f-5e84a3f1a801/scratchpad/ppt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4261104"/>
            <a:ext cx="91440" cy="914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71600" y="4096512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Designar responsables de reservas, pagos e inventario.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22960" y="4709160"/>
            <a:ext cx="384048" cy="384048"/>
          </a:xfrm>
          <a:prstGeom prst="ellipse">
            <a:avLst/>
          </a:prstGeom>
          <a:solidFill>
            <a:srgbClr val="0047AB"/>
          </a:solidFill>
          <a:ln/>
        </p:spPr>
      </p:sp>
      <p:pic>
        <p:nvPicPr>
          <p:cNvPr id="14" name="Image 3" descr="/tmp/claude-0/-home-user-claude/0923df48-5d83-51f5-979f-5e84a3f1a801/scratchpad/ppt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4855464"/>
            <a:ext cx="91440" cy="914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371600" y="4690872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Habilitar el salón principal como primer espacio comercial.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822960" y="5303520"/>
            <a:ext cx="384048" cy="384048"/>
          </a:xfrm>
          <a:prstGeom prst="ellipse">
            <a:avLst/>
          </a:prstGeom>
          <a:solidFill>
            <a:srgbClr val="0047AB"/>
          </a:solidFill>
          <a:ln/>
        </p:spPr>
      </p:sp>
      <p:pic>
        <p:nvPicPr>
          <p:cNvPr id="17" name="Image 4" descr="/tmp/claude-0/-home-user-claude/0923df48-5d83-51f5-979f-5e84a3f1a801/scratchpad/ppt/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" y="5449824"/>
            <a:ext cx="91440" cy="9144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371600" y="5285232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resultados mensualmente y resolver al día 90.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822960" y="63550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8B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para deliberación · Club de Leones Quinta Normal · Septiembre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2026-09-05T00:16:09Z</dcterms:created>
  <dcterms:modified xsi:type="dcterms:W3CDTF">2026-09-05T00:16:09Z</dcterms:modified>
</cp:coreProperties>
</file>
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D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066B3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00529B"/>
          </a:solidFill>
          <a:ln/>
        </p:spPr>
      </p:sp>
      <p:sp>
        <p:nvSpPr>
          <p:cNvPr id="4" name="Shape 2"/>
          <p:cNvSpPr/>
          <p:nvPr/>
        </p:nvSpPr>
        <p:spPr>
          <a:xfrm>
            <a:off x="9528048" y="365760"/>
            <a:ext cx="1508760" cy="150876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/root/.claude/skills/marca-club-leones/assets/logo-leones-en-accion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88" y="457200"/>
            <a:ext cx="1325880" cy="13130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C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19659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Arriendo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22960" y="3063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piloto de 90 días — Dependencias Z-144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2296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"Leones en Acción"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846320"/>
            <a:ext cx="457200" cy="457200"/>
          </a:xfrm>
          <a:prstGeom prst="ellipse">
            <a:avLst/>
          </a:prstGeom>
          <a:solidFill>
            <a:srgbClr val="FFCF00"/>
          </a:solidFill>
          <a:ln/>
        </p:spPr>
      </p:sp>
      <p:pic>
        <p:nvPicPr>
          <p:cNvPr id="11" name="Image 1" descr="/tmp/claude-0/-home-user-claude/0923df48-5d83-51f5-979f-5e84a3f1a801/scratchpad/ppt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164592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86460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a la Junta Directiva  ·  Septiembre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propósito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levantamiento técnico de Libardo Fernández entregó dimensiones, distribución y necesidades de conservación del inmueble.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informe da el siguiente paso: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ese levantamiento en una oferta de arriendo clara, controlada y medible, capaz de generar recursos para conservar la sede sin interferir con la actividad del Club.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040880" y="164592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E8F0F8"/>
          </a:solidFill>
          <a:ln/>
          <a:effectLst>
            <a:outerShdw sx="100000" sy="100000" kx="0" ky="0" algn="bl" rotWithShape="0" blurRad="101600" dist="38100" dir="5400000">
              <a:srgbClr val="999999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06640" y="1965960"/>
            <a:ext cx="548640" cy="54864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8" name="Image 0" descr="/tmp/claude-0/-home-user-claude/0923df48-5d83-51f5-979f-5e84a3f1a801/scratchpad/ppt/icons/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2944" y="211226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138160" y="19933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Salón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22376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m²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406640" y="35204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 × 8,70 m aproximados — el espacio con mayor capacidad y mejor posibilidad de ingresos.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805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 una medición arquitectónica, regularización municipal ni certificación de aforo.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 central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0529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FFCF00"/>
          </a:solidFill>
          <a:ln/>
        </p:spPr>
      </p:sp>
      <p:pic>
        <p:nvPicPr>
          <p:cNvPr id="6" name="Image 0" descr="/tmp/claude-0/-home-user-claude/0923df48-5d83-51f5-979f-5e84a3f1a801/scratchpad/ppt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1122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8308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un piloto de arriendo de 90 días, concentrado primero en el salón principal y en toda sala que apruebe antes una verificación de habilitación. Tarifario mínimo y transitorio, revisado con evidencia real de ocupación, costos e incidencias.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8F0F8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8580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del piloto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8328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8F0F8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m²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52044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Salón principal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1792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8F0F8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personas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35508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comercial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5256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8F0F8"/>
          </a:solidFill>
          <a:ln/>
        </p:spPr>
      </p:sp>
      <p:sp>
        <p:nvSpPr>
          <p:cNvPr id="18" name="Text 15"/>
          <p:cNvSpPr/>
          <p:nvPr/>
        </p:nvSpPr>
        <p:spPr>
          <a:xfrm>
            <a:off x="905256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$100.000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918972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base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la Junta decide hoy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46504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5" name="Image 0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892808"/>
            <a:ext cx="164592" cy="1645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691640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tarifario, las garantías, las reservas y las políticas operativas del piloto.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642616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8" name="Image 1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164592" cy="1645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587752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el salón principal como activo comercial prioritario, con un mínimo de 4 horas por reserva.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11" name="Image 2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85032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483864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Condicionar las salas auxiliares a una verificación previa de seguridad y funcionamiento.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14" name="Image 3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58114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379976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Designar a los responsables provisionales de reservas, pagos, inventario, entrega y recepción.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548640" y="5330952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17" name="Image 4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477256"/>
            <a:ext cx="164592" cy="16459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5276088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revisión mensual de resultados y la decisión de continuidad al día 90.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espacio comunitario, funcional y accesible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Compite por ubicación, flexibilidad, trato directo, precio transparente y contribución a la labor social del Club.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E8F0F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prioritarios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de organizaciones, comunidades y equipos.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Talleres, clases y capacitaciones recurrentes (ej. karate).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Celebraciones familiares y ceremonias privadas.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institucionales del propio Club.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FF7DD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arriendo base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69748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exclusivo del espacio durante el bloque contratado.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Baños, electricidad normal, wifi, TV y audio básico.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coordinado y acta de entrega y recepción.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Estacionamiento público exterior, sin custodia del Club.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Tarifario del piloto — Salón principal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1920240"/>
        </p:xfrm>
        <a:graphic>
          <a:graphicData uri="http://schemas.openxmlformats.org/drawingml/2006/table">
            <a:tbl>
              <a:tblPr/>
              <a:tblGrid>
                <a:gridCol w="3291840"/>
                <a:gridCol w="1920240"/>
                <a:gridCol w="1920240"/>
                <a:gridCol w="192024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Tarifa/hora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4 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8 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 adicional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Lunes a viernes hasta 18:00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Lunes a viernes desde 18:00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Sábado, domingo y festivo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7DD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40233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precio: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mínimos comerciales para el estado actual del recinto, coherentes con los arriendos históricos de $110.000–$150.000 por jornada.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ofrecen: sala auxiliar habilitada, adicionales (mesas, loza, cocina, limpieza) y descuentos para socios, ONG y planes recurrentes.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Y GARANTÍAS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Reservas, pagos y garantías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8F0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6" name="Image 0" descr="/tmp/claude-0/-home-user-claude/0923df48-5d83-51f5-979f-5e84a3f1a801/scratchpad/ppt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579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válida 48 h.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con 50% de pago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aceptación escrita.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8F0F8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11" name="Image 1" descr="/tmp/claude-0/-home-user-claude/0923df48-5d83-51f5-979f-5e84a3f1a801/scratchpad/ppt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15798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por daños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7200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 base (salón).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$150.000 con cocina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nocturno.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4672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8F0F8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16" name="Image 2" descr="/tmp/claude-0/-home-user-claude/0923df48-5d83-51f5-979f-5e84a3f1a801/scratchpad/ppt/icons/b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15798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Cancelación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2104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progresiva: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con 15+ días,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bajo 72 horas.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administra el piloto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simple, con separación entre aprobación, caja e inventario.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3200400"/>
        </p:xfrm>
        <a:graphic>
          <a:graphicData uri="http://schemas.openxmlformats.org/drawingml/2006/table">
            <a:tbl>
              <a:tblPr/>
              <a:tblGrid>
                <a:gridCol w="6400800"/>
                <a:gridCol w="4663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provisional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9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Recepción y aprobación de reservas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Presidenta Fanny Herrera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y recepción del recinto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Fanny Herrera o persona designada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Inventario de cocina, mobiliario y loza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Mirta Herrera, domadora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Pagos y devolución de garantía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Eugenio Bastiás, tesorero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Cobro por daños e incidencias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Fanny Herrera + Eugenio Bastiás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mensual de resultados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Junta Directiva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de 90 días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943100" y="1828800"/>
            <a:ext cx="8503920" cy="0"/>
          </a:xfrm>
          <a:prstGeom prst="line">
            <a:avLst/>
          </a:prstGeom>
          <a:noFill/>
          <a:ln w="31750">
            <a:solidFill>
              <a:srgbClr val="FFCF0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668780" y="1554480"/>
            <a:ext cx="548640" cy="548640"/>
          </a:xfrm>
          <a:prstGeom prst="ellipse">
            <a:avLst/>
          </a:prstGeom>
          <a:solidFill>
            <a:srgbClr val="00529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687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8F0F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0–15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inventario, calendario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03420" y="1554480"/>
            <a:ext cx="548640" cy="548640"/>
          </a:xfrm>
          <a:prstGeom prst="ellipse">
            <a:avLst/>
          </a:prstGeom>
          <a:solidFill>
            <a:srgbClr val="00529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34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2044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8F0F8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16–30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1188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reservas limitadas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38060" y="1554480"/>
            <a:ext cx="548640" cy="548640"/>
          </a:xfrm>
          <a:prstGeom prst="ellipse">
            <a:avLst/>
          </a:prstGeom>
          <a:solidFill>
            <a:srgbClr val="00529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380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5508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8F0F8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31–75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Demanda, ingresos, costos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172700" y="1554480"/>
            <a:ext cx="548640" cy="548640"/>
          </a:xfrm>
          <a:prstGeom prst="ellipse">
            <a:avLst/>
          </a:prstGeom>
          <a:solidFill>
            <a:srgbClr val="00529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727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8972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8F0F8"/>
          </a:solidFill>
          <a:ln/>
        </p:spPr>
      </p:sp>
      <p:sp>
        <p:nvSpPr>
          <p:cNvPr id="26" name="Text 24"/>
          <p:cNvSpPr/>
          <p:nvPr/>
        </p:nvSpPr>
        <p:spPr>
          <a:xfrm>
            <a:off x="928116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7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76–90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8116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2688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y ajustes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clave que se medirán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4480560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31" name="Image 0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4626864"/>
            <a:ext cx="164592" cy="16459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9728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Ocupación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4864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arrendadas / ofrecidas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383280" y="4480560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35" name="Image 1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4626864"/>
            <a:ext cx="164592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93192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reserva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38328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Positivo, sin subsidio oculto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6217920" y="4480560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39" name="Image 2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4626864"/>
            <a:ext cx="164592" cy="164592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76656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</a:t>
            </a:r>
            <a:endParaRPr lang="en-US" sz="1300" dirty="0"/>
          </a:p>
        </p:txBody>
      </p:sp>
      <p:sp>
        <p:nvSpPr>
          <p:cNvPr id="41" name="Text 36"/>
          <p:cNvSpPr/>
          <p:nvPr/>
        </p:nvSpPr>
        <p:spPr>
          <a:xfrm>
            <a:off x="621792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 10%; cero críticas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9052560" y="4480560"/>
            <a:ext cx="457200" cy="457200"/>
          </a:xfrm>
          <a:prstGeom prst="ellipse">
            <a:avLst/>
          </a:prstGeom>
          <a:solidFill>
            <a:srgbClr val="00529B"/>
          </a:solidFill>
          <a:ln/>
        </p:spPr>
      </p:sp>
      <p:pic>
        <p:nvPicPr>
          <p:cNvPr id="43" name="Image 3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4" y="4626864"/>
            <a:ext cx="164592" cy="16459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960120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905256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inicial 4/5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D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066B3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685800" cy="685800"/>
          </a:xfrm>
          <a:prstGeom prst="ellipse">
            <a:avLst/>
          </a:prstGeom>
          <a:solidFill>
            <a:srgbClr val="FFCF00"/>
          </a:solidFill>
          <a:ln/>
        </p:spPr>
      </p:sp>
      <p:pic>
        <p:nvPicPr>
          <p:cNvPr id="4" name="Image 0" descr="/tmp/claude-0/-home-user-claude/0923df48-5d83-51f5-979f-5e84a3f1a801/scratchpad/ppt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969264"/>
            <a:ext cx="393192" cy="3931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868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Acuerdo propuesto para la Junta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22960" y="1965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Junta Directiva aprueba, con carácter piloto por 90 días desde la primera reserva confirmada, el modelo de arriendo, tarifario, garantías, políticas de cancelación, horarios y controles de este informe.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22960" y="3520440"/>
            <a:ext cx="384048" cy="384048"/>
          </a:xfrm>
          <a:prstGeom prst="ellipse">
            <a:avLst/>
          </a:prstGeom>
          <a:solidFill>
            <a:srgbClr val="0066B3"/>
          </a:solidFill>
          <a:ln/>
        </p:spPr>
      </p:sp>
      <p:pic>
        <p:nvPicPr>
          <p:cNvPr id="8" name="Image 1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66744"/>
            <a:ext cx="91440" cy="914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350215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tarifario, garantías y políticas del piloto.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22960" y="4114800"/>
            <a:ext cx="384048" cy="384048"/>
          </a:xfrm>
          <a:prstGeom prst="ellipse">
            <a:avLst/>
          </a:prstGeom>
          <a:solidFill>
            <a:srgbClr val="0066B3"/>
          </a:solidFill>
          <a:ln/>
        </p:spPr>
      </p:sp>
      <p:pic>
        <p:nvPicPr>
          <p:cNvPr id="11" name="Image 2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261104"/>
            <a:ext cx="91440" cy="914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09651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Designar responsables de reservas, pagos e inventario.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22960" y="4709160"/>
            <a:ext cx="384048" cy="384048"/>
          </a:xfrm>
          <a:prstGeom prst="ellipse">
            <a:avLst/>
          </a:prstGeom>
          <a:solidFill>
            <a:srgbClr val="0066B3"/>
          </a:solidFill>
          <a:ln/>
        </p:spPr>
      </p:sp>
      <p:pic>
        <p:nvPicPr>
          <p:cNvPr id="14" name="Image 3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855464"/>
            <a:ext cx="91440" cy="914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469087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el salón principal como primer espacio comercial.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0066B3"/>
          </a:solidFill>
          <a:ln/>
        </p:spPr>
      </p:sp>
      <p:pic>
        <p:nvPicPr>
          <p:cNvPr id="17" name="Image 4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5449824"/>
            <a:ext cx="91440" cy="914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71600" y="528523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 mensualmente y resolver al día 90.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22960" y="6355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para deliberación · Club de Leones Quinta Normal · Septiembre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2026-09-05T00:24:38Z</dcterms:created>
  <dcterms:modified xsi:type="dcterms:W3CDTF">2026-09-05T00:24:38Z</dcterms:modified>
</cp:coreProperties>
</file>
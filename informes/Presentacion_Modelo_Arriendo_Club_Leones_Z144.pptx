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1.png"/><Relationship Id="rId3" Type="http://schemas.openxmlformats.org/officeDocument/2006/relationships/image" Target="../media/image-4-1.png"/><Relationship Id="rId4" Type="http://schemas.openxmlformats.org/officeDocument/2006/relationships/image" Target="../media/image-4-1.png"/><Relationship Id="rId5" Type="http://schemas.openxmlformats.org/officeDocument/2006/relationships/image" Target="../media/image-4-1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1.png"/><Relationship Id="rId3" Type="http://schemas.openxmlformats.org/officeDocument/2006/relationships/image" Target="../media/image-9-1.png"/><Relationship Id="rId4" Type="http://schemas.openxmlformats.org/officeDocument/2006/relationships/image" Target="../media/image-9-1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2.png"/><Relationship Id="rId4" Type="http://schemas.openxmlformats.org/officeDocument/2006/relationships/image" Target="../media/image-10-2.png"/><Relationship Id="rId5" Type="http://schemas.openxmlformats.org/officeDocument/2006/relationships/image" Target="../media/image-10-2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3A1959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548640"/>
            <a:ext cx="2926080" cy="2926080"/>
          </a:xfrm>
          <a:prstGeom prst="ellipse">
            <a:avLst/>
          </a:prstGeom>
          <a:solidFill>
            <a:srgbClr val="4B1F6F"/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5544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3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1965960"/>
            <a:ext cx="100584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Arriendo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6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piloto de 90 días — Dependencias Z-144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56616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BE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 "Leones en Acción"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846320"/>
            <a:ext cx="457200" cy="45720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9" name="Image 0" descr="/tmp/claude-0/-home-user-claude/0923df48-5d83-51f5-979f-5e84a3f1a801/scratchpad/ppt/icons/handshak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4992624"/>
            <a:ext cx="164592" cy="164592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48646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Presentación a la Junta Directiva  ·  Septiembre de 2026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 y propósito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levantamiento técnico de Libardo Fernández entregó dimensiones, distribución y necesidades de conservación del inmueble.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2606040"/>
            <a:ext cx="603504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6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informe da el siguiente paso: </a:t>
            </a:r>
            <a:pPr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convierte ese levantamiento en una oferta de arriendo clara, controlada y medible, capaz de generar recursos para conservar la sede sin interferir con la actividad del Club.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40880" y="1645920"/>
            <a:ext cx="4572000" cy="4023360"/>
          </a:xfrm>
          <a:prstGeom prst="roundRect">
            <a:avLst>
              <a:gd name="adj" fmla="val 2727"/>
            </a:avLst>
          </a:prstGeom>
          <a:solidFill>
            <a:srgbClr val="F1ECF6"/>
          </a:solidFill>
          <a:ln/>
          <a:effectLst>
            <a:outerShdw sx="100000" sy="100000" kx="0" ky="0" algn="bl" rotWithShape="0" blurRad="101600" dist="38100" dir="5400000">
              <a:srgbClr val="999999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406640" y="1965960"/>
            <a:ext cx="548640" cy="54864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8" name="Image 0" descr="/tmp/claude-0/-home-user-claude/0923df48-5d83-51f5-979f-5e84a3f1a801/scratchpad/ppt/icons/buil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52944" y="2112264"/>
            <a:ext cx="256032" cy="25603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138160" y="1993392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Salón principal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223760" y="2697480"/>
            <a:ext cx="4206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m²</a:t>
            </a:r>
            <a:endParaRPr lang="en-US" sz="4000" dirty="0"/>
          </a:p>
        </p:txBody>
      </p:sp>
      <p:sp>
        <p:nvSpPr>
          <p:cNvPr id="11" name="Text 8"/>
          <p:cNvSpPr/>
          <p:nvPr/>
        </p:nvSpPr>
        <p:spPr>
          <a:xfrm>
            <a:off x="7406640" y="352044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 × 8,70 m aproximados — el espacio con mayor capacidad y mejor posibilidad de ingresos.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406640" y="4480560"/>
            <a:ext cx="3840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reemplaza una medición arquitectónica, regularización municipal ni certificación de aforo.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RECOMENDACIÓN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Recomendación central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64240" cy="1417320"/>
          </a:xfrm>
          <a:prstGeom prst="roundRect">
            <a:avLst>
              <a:gd name="adj" fmla="val 6452"/>
            </a:avLst>
          </a:prstGeom>
          <a:solidFill>
            <a:srgbClr val="4B1F6F"/>
          </a:solidFill>
          <a:ln/>
        </p:spPr>
      </p:sp>
      <p:sp>
        <p:nvSpPr>
          <p:cNvPr id="5" name="Shape 3"/>
          <p:cNvSpPr/>
          <p:nvPr/>
        </p:nvSpPr>
        <p:spPr>
          <a:xfrm>
            <a:off x="868680" y="1965960"/>
            <a:ext cx="685800" cy="68580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6" name="Image 0" descr="/tmp/claude-0/-home-user-claude/0923df48-5d83-51f5-979f-5e84a3f1a801/scratchpad/ppt/icons/fl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4984" y="2112264"/>
            <a:ext cx="393192" cy="3931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83080" y="1783080"/>
            <a:ext cx="9601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un piloto de arriendo de 90 días, concentrado primero en el salón principal y en toda sala que apruebe antes una verificación de habilitación. Tarifario mínimo y transitorio, revisado con evidencia real de ocupación, costos e incidencias.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548640" y="33832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1ECF6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90 días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685800" y="4526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Duración del piloto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383280" y="33832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1ECF6"/>
          </a:solidFill>
          <a:ln/>
        </p:spPr>
      </p:sp>
      <p:sp>
        <p:nvSpPr>
          <p:cNvPr id="12" name="Text 9"/>
          <p:cNvSpPr/>
          <p:nvPr/>
        </p:nvSpPr>
        <p:spPr>
          <a:xfrm>
            <a:off x="338328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87 m²</a:t>
            </a:r>
            <a:endParaRPr lang="en-US" sz="3200" dirty="0"/>
          </a:p>
        </p:txBody>
      </p:sp>
      <p:sp>
        <p:nvSpPr>
          <p:cNvPr id="13" name="Text 10"/>
          <p:cNvSpPr/>
          <p:nvPr/>
        </p:nvSpPr>
        <p:spPr>
          <a:xfrm>
            <a:off x="3520440" y="4526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Salón principal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17920" y="33832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1ECF6"/>
          </a:solidFill>
          <a:ln/>
        </p:spPr>
      </p:sp>
      <p:sp>
        <p:nvSpPr>
          <p:cNvPr id="15" name="Text 12"/>
          <p:cNvSpPr/>
          <p:nvPr/>
        </p:nvSpPr>
        <p:spPr>
          <a:xfrm>
            <a:off x="621792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70 personas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6355080" y="4526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Capacidad comercial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9052560" y="338328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1ECF6"/>
          </a:solidFill>
          <a:ln/>
        </p:spPr>
      </p:sp>
      <p:sp>
        <p:nvSpPr>
          <p:cNvPr id="18" name="Text 15"/>
          <p:cNvSpPr/>
          <p:nvPr/>
        </p:nvSpPr>
        <p:spPr>
          <a:xfrm>
            <a:off x="9052560" y="3703320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$100.000</a:t>
            </a:r>
            <a:endParaRPr lang="en-US" sz="3200" dirty="0"/>
          </a:p>
        </p:txBody>
      </p:sp>
      <p:sp>
        <p:nvSpPr>
          <p:cNvPr id="19" name="Text 16"/>
          <p:cNvSpPr/>
          <p:nvPr/>
        </p:nvSpPr>
        <p:spPr>
          <a:xfrm>
            <a:off x="9189720" y="4526280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base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 que la Junta decide hoy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5" name="Image 0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1892808"/>
            <a:ext cx="164592" cy="16459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691640"/>
            <a:ext cx="10332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el tarifario, las garantías, las reservas y las políticas operativas del piloto.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2642616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8" name="Image 1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" y="2788920"/>
            <a:ext cx="164592" cy="16459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234440" y="2587752"/>
            <a:ext cx="10332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Autorizar el salón principal como activo comercial prioritario, con un mínimo de 4 horas por reserva.</a:t>
            </a:r>
            <a:endParaRPr lang="en-US" sz="1600" dirty="0"/>
          </a:p>
        </p:txBody>
      </p:sp>
      <p:sp>
        <p:nvSpPr>
          <p:cNvPr id="10" name="Shape 6"/>
          <p:cNvSpPr/>
          <p:nvPr/>
        </p:nvSpPr>
        <p:spPr>
          <a:xfrm>
            <a:off x="548640" y="3538728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11" name="Image 2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4944" y="3685032"/>
            <a:ext cx="164592" cy="164592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3483864"/>
            <a:ext cx="10332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Condicionar las salas auxiliares a una verificación previa de seguridad y funcionamiento.</a:t>
            </a:r>
            <a:endParaRPr lang="en-US" sz="1600" dirty="0"/>
          </a:p>
        </p:txBody>
      </p:sp>
      <p:sp>
        <p:nvSpPr>
          <p:cNvPr id="13" name="Shape 8"/>
          <p:cNvSpPr/>
          <p:nvPr/>
        </p:nvSpPr>
        <p:spPr>
          <a:xfrm>
            <a:off x="548640" y="4434840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14" name="Image 3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944" y="4581144"/>
            <a:ext cx="164592" cy="164592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234440" y="4379976"/>
            <a:ext cx="10332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a los responsables provisionales de reservas, pagos, inventario, entrega y recepción.</a:t>
            </a:r>
            <a:endParaRPr lang="en-US" sz="1600" dirty="0"/>
          </a:p>
        </p:txBody>
      </p:sp>
      <p:sp>
        <p:nvSpPr>
          <p:cNvPr id="16" name="Shape 10"/>
          <p:cNvSpPr/>
          <p:nvPr/>
        </p:nvSpPr>
        <p:spPr>
          <a:xfrm>
            <a:off x="548640" y="5330952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17" name="Image 4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4944" y="5477256"/>
            <a:ext cx="164592" cy="16459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234440" y="5276088"/>
            <a:ext cx="10332720" cy="8961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Fijar la revisión mensual de resultados y la decisión de continuidad al día 90.</a:t>
            </a:r>
            <a:endParaRPr lang="en-US" sz="1600" dirty="0"/>
          </a:p>
        </p:txBody>
      </p:sp>
      <p:sp>
        <p:nvSpPr>
          <p:cNvPr id="19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20" name="Text 1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PROPUESTA DE VALOR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 espacio comunitario, funcional y accesible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Compite por ubicación, flexibilidad, trato directo, precio transparente y contribución a la labor social del Club.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1ECF6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Usos prioritarios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68680" y="26974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Reuniones de organizaciones, comunidades y equipos.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Talleres, clases y capacitaciones recurrentes (ej. karate).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Celebraciones familiares y ceremonias privadas.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Actividades institucionales del propio Club.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217920" y="201168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F6EFDE"/>
          </a:solidFill>
          <a:ln/>
        </p:spPr>
      </p:sp>
      <p:sp>
        <p:nvSpPr>
          <p:cNvPr id="9" name="Text 7"/>
          <p:cNvSpPr/>
          <p:nvPr/>
        </p:nvSpPr>
        <p:spPr>
          <a:xfrm>
            <a:off x="6537960" y="2194560"/>
            <a:ext cx="4846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Incluido en el arriendo base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37960" y="2697480"/>
            <a:ext cx="4846320" cy="3291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Uso exclusivo del espacio durante el bloque contratado.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Baños, electricidad normal, wifi, TV y audio básico.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Acceso coordinado y acta de entrega y recepción.</a:t>
            </a:r>
            <a:endParaRPr lang="en-US" sz="1450" dirty="0"/>
          </a:p>
          <a:p>
            <a:pPr marL="342900" indent="-342900">
              <a:lnSpc>
                <a:spcPct val="135000"/>
              </a:lnSpc>
              <a:spcAft>
                <a:spcPts val="1000"/>
              </a:spcAft>
              <a:buSzPct val="100000"/>
              <a:buChar char="●"/>
            </a:pPr>
            <a:r>
              <a:rPr lang="en-US" sz="145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Estacionamiento público exterior, sin custodia del Club.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TARIFARIO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Tarifario del piloto — Salón principal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64240" cy="192024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1920240"/>
                <a:gridCol w="1920240"/>
                <a:gridCol w="20116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Franja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Tarifa/hora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4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Bloque 8 h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Hora adicional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6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Lunes a viernes hasta 18:00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$110.000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$210.000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Lunes a viernes desde 18:00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Sábado, domingo y festivo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$280.000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$40.000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886200"/>
            <a:ext cx="11064240" cy="1051560"/>
          </a:xfrm>
          <a:prstGeom prst="roundRect">
            <a:avLst>
              <a:gd name="adj" fmla="val 6957"/>
            </a:avLst>
          </a:prstGeom>
          <a:solidFill>
            <a:srgbClr val="F6EFDE"/>
          </a:solidFill>
          <a:ln/>
        </p:spPr>
      </p:sp>
      <p:sp>
        <p:nvSpPr>
          <p:cNvPr id="6" name="Text 3"/>
          <p:cNvSpPr/>
          <p:nvPr/>
        </p:nvSpPr>
        <p:spPr>
          <a:xfrm>
            <a:off x="868680" y="4023360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 de precio:  </a:t>
            </a:r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mínimos comerciales para el estado actual del recinto, coherentes con los arriendos históricos de $110.000–$150.000 por jornada.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51663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También se ofrecen: sala auxiliar habilitada, adicionales (mesas, loza, cocina, limpieza) y descuentos para socios, ONG y planes recurrentes.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RESERVAS Y GARANTÍAS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Reservas, pagos y garantías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1ECF6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2011680"/>
            <a:ext cx="640080" cy="64008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6" name="Image 0" descr="/tmp/claude-0/-home-user-claude/0923df48-5d83-51f5-979f-5e84a3f1a801/scratchpad/ppt/icons/ke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2157984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29184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Cotización válida 48 h.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 con 50% de pago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aceptación escrita.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297680" y="17373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1ECF6"/>
          </a:solidFill>
          <a:ln/>
        </p:spPr>
      </p:sp>
      <p:sp>
        <p:nvSpPr>
          <p:cNvPr id="10" name="Shape 7"/>
          <p:cNvSpPr/>
          <p:nvPr/>
        </p:nvSpPr>
        <p:spPr>
          <a:xfrm>
            <a:off x="4572000" y="2011680"/>
            <a:ext cx="640080" cy="64008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11" name="Image 1" descr="/tmp/claude-0/-home-user-claude/0923df48-5d83-51f5-979f-5e84a3f1a801/scratchpad/ppt/icons/shiel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18304" y="2157984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7200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Garantía por daños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72000" y="329184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$100.000 base (salón).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Sube a $150.000 con cocina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evento nocturno.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8046720" y="173736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1ECF6"/>
          </a:solidFill>
          <a:ln/>
        </p:spPr>
      </p:sp>
      <p:sp>
        <p:nvSpPr>
          <p:cNvPr id="15" name="Shape 11"/>
          <p:cNvSpPr/>
          <p:nvPr/>
        </p:nvSpPr>
        <p:spPr>
          <a:xfrm>
            <a:off x="8321040" y="2011680"/>
            <a:ext cx="640080" cy="64008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16" name="Image 2" descr="/tmp/claude-0/-home-user-claude/0923df48-5d83-51f5-979f-5e84a3f1a801/scratchpad/ppt/icons/ba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67344" y="2157984"/>
            <a:ext cx="347472" cy="34747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21040" y="27889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Cancelación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321040" y="3291840"/>
            <a:ext cx="301752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Devolución progresiva: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con 15+ días,</a:t>
            </a:r>
            <a:endParaRPr lang="en-US" sz="140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2A2A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0% bajo 72 horas.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GOBIERNO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Cómo se administra el piloto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Administración simple, con separación entre aprobación, caja e inventario.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20240"/>
          <a:ext cx="11064240" cy="3200400"/>
        </p:xfrm>
        <a:graphic>
          <a:graphicData uri="http://schemas.openxmlformats.org/drawingml/2006/table">
            <a:tbl>
              <a:tblPr/>
              <a:tblGrid>
                <a:gridCol w="6400800"/>
                <a:gridCol w="466344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Función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6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Responsable provisional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1F6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Recepción y aprobación de reservas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Presidenta Fanny Herrera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Entrega y recepción del recinto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Fanny Herrera o persona designada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Inventario de cocina, mobiliario y loza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Mirta Herrera, domadora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Pagos y devolución de garantía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Eugenio Bastiás, tesorero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Cobro por daños e incidencias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Fanny Herrera + Eugenio Bastiás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ECF6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Control mensual de resultados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2A2A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Junta Directiva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3E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89B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410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Cronograma de 90 días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943100" y="1828800"/>
            <a:ext cx="8503920" cy="0"/>
          </a:xfrm>
          <a:prstGeom prst="line">
            <a:avLst/>
          </a:prstGeom>
          <a:noFill/>
          <a:ln w="31750">
            <a:solidFill>
              <a:srgbClr val="C89B3C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1668780" y="1554480"/>
            <a:ext cx="548640" cy="548640"/>
          </a:xfrm>
          <a:prstGeom prst="ellipse">
            <a:avLst/>
          </a:prstGeom>
          <a:solidFill>
            <a:srgbClr val="4B1F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85800" y="2240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1ECF6"/>
          </a:solidFill>
          <a:ln/>
        </p:spPr>
      </p:sp>
      <p:sp>
        <p:nvSpPr>
          <p:cNvPr id="8" name="Text 6"/>
          <p:cNvSpPr/>
          <p:nvPr/>
        </p:nvSpPr>
        <p:spPr>
          <a:xfrm>
            <a:off x="777240" y="23500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0–15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6243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2296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Checklist, inventario, calendario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03420" y="1554480"/>
            <a:ext cx="548640" cy="548640"/>
          </a:xfrm>
          <a:prstGeom prst="ellipse">
            <a:avLst/>
          </a:prstGeom>
          <a:solidFill>
            <a:srgbClr val="4B1F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0342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520440" y="2240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1ECF6"/>
          </a:solidFill>
          <a:ln/>
        </p:spPr>
      </p:sp>
      <p:sp>
        <p:nvSpPr>
          <p:cNvPr id="14" name="Text 12"/>
          <p:cNvSpPr/>
          <p:nvPr/>
        </p:nvSpPr>
        <p:spPr>
          <a:xfrm>
            <a:off x="3611880" y="23500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16–30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611880" y="26243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Apertura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65760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Primeras reservas limitadas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7338060" y="1554480"/>
            <a:ext cx="548640" cy="548640"/>
          </a:xfrm>
          <a:prstGeom prst="ellipse">
            <a:avLst/>
          </a:prstGeom>
          <a:solidFill>
            <a:srgbClr val="4B1F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33806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6355080" y="2240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1ECF6"/>
          </a:solidFill>
          <a:ln/>
        </p:spPr>
      </p:sp>
      <p:sp>
        <p:nvSpPr>
          <p:cNvPr id="20" name="Text 18"/>
          <p:cNvSpPr/>
          <p:nvPr/>
        </p:nvSpPr>
        <p:spPr>
          <a:xfrm>
            <a:off x="6446520" y="23500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31–75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46520" y="26243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Operación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Demanda, ingresos, costos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10172700" y="1554480"/>
            <a:ext cx="548640" cy="548640"/>
          </a:xfrm>
          <a:prstGeom prst="ellipse">
            <a:avLst/>
          </a:prstGeom>
          <a:solidFill>
            <a:srgbClr val="4B1F6F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172700" y="1554480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9189720" y="22402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1ECF6"/>
          </a:solidFill>
          <a:ln/>
        </p:spPr>
      </p:sp>
      <p:sp>
        <p:nvSpPr>
          <p:cNvPr id="26" name="Text 24"/>
          <p:cNvSpPr/>
          <p:nvPr/>
        </p:nvSpPr>
        <p:spPr>
          <a:xfrm>
            <a:off x="9281160" y="2350008"/>
            <a:ext cx="2331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9C76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Días 76–90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9281160" y="2624328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932688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final y ajustes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48640" y="3977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clave que se medirán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548640" y="4480560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31" name="Image 0" descr="/tmp/claude-0/-home-user-claude/0923df48-5d83-51f5-979f-5e84a3f1a801/scratchpad/ppt/icons/char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4626864"/>
            <a:ext cx="164592" cy="164592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1097280" y="44622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Ocupación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8640" y="5010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Horas arrendadas / ofrecidas</a:t>
            </a:r>
            <a:endParaRPr lang="en-US" sz="1150" dirty="0"/>
          </a:p>
        </p:txBody>
      </p:sp>
      <p:sp>
        <p:nvSpPr>
          <p:cNvPr id="34" name="Shape 31"/>
          <p:cNvSpPr/>
          <p:nvPr/>
        </p:nvSpPr>
        <p:spPr>
          <a:xfrm>
            <a:off x="3383280" y="4480560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35" name="Image 1" descr="/tmp/claude-0/-home-user-claude/0923df48-5d83-51f5-979f-5e84a3f1a801/scratchpad/ppt/icons/char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9584" y="4626864"/>
            <a:ext cx="164592" cy="164592"/>
          </a:xfrm>
          <a:prstGeom prst="rect">
            <a:avLst/>
          </a:prstGeom>
        </p:spPr>
      </p:pic>
      <p:sp>
        <p:nvSpPr>
          <p:cNvPr id="36" name="Text 32"/>
          <p:cNvSpPr/>
          <p:nvPr/>
        </p:nvSpPr>
        <p:spPr>
          <a:xfrm>
            <a:off x="3931920" y="44622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Margen por reserva</a:t>
            </a:r>
            <a:endParaRPr lang="en-US" sz="1300" dirty="0"/>
          </a:p>
        </p:txBody>
      </p:sp>
      <p:sp>
        <p:nvSpPr>
          <p:cNvPr id="37" name="Text 33"/>
          <p:cNvSpPr/>
          <p:nvPr/>
        </p:nvSpPr>
        <p:spPr>
          <a:xfrm>
            <a:off x="3383280" y="5010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Positivo, sin subsidio oculto</a:t>
            </a:r>
            <a:endParaRPr lang="en-US" sz="1150" dirty="0"/>
          </a:p>
        </p:txBody>
      </p:sp>
      <p:sp>
        <p:nvSpPr>
          <p:cNvPr id="38" name="Shape 34"/>
          <p:cNvSpPr/>
          <p:nvPr/>
        </p:nvSpPr>
        <p:spPr>
          <a:xfrm>
            <a:off x="6217920" y="4480560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39" name="Image 2" descr="/tmp/claude-0/-home-user-claude/0923df48-5d83-51f5-979f-5e84a3f1a801/scratchpad/ppt/icons/char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64224" y="4626864"/>
            <a:ext cx="164592" cy="164592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6766560" y="44622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Incidencias</a:t>
            </a:r>
            <a:endParaRPr lang="en-US" sz="1300" dirty="0"/>
          </a:p>
        </p:txBody>
      </p:sp>
      <p:sp>
        <p:nvSpPr>
          <p:cNvPr id="41" name="Text 36"/>
          <p:cNvSpPr/>
          <p:nvPr/>
        </p:nvSpPr>
        <p:spPr>
          <a:xfrm>
            <a:off x="6217920" y="5010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Menor a 10%; cero críticas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9052560" y="4480560"/>
            <a:ext cx="457200" cy="457200"/>
          </a:xfrm>
          <a:prstGeom prst="ellipse">
            <a:avLst/>
          </a:prstGeom>
          <a:solidFill>
            <a:srgbClr val="4B1F6F"/>
          </a:solidFill>
          <a:ln/>
        </p:spPr>
      </p:sp>
      <p:pic>
        <p:nvPicPr>
          <p:cNvPr id="43" name="Image 3" descr="/tmp/claude-0/-home-user-claude/0923df48-5d83-51f5-979f-5e84a3f1a801/scratchpad/ppt/icons/ch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98864" y="4626864"/>
            <a:ext cx="164592" cy="164592"/>
          </a:xfrm>
          <a:prstGeom prst="rect">
            <a:avLst/>
          </a:prstGeom>
        </p:spPr>
      </p:pic>
      <p:sp>
        <p:nvSpPr>
          <p:cNvPr id="44" name="Text 38"/>
          <p:cNvSpPr/>
          <p:nvPr/>
        </p:nvSpPr>
        <p:spPr>
          <a:xfrm>
            <a:off x="9601200" y="4462272"/>
            <a:ext cx="2057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410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Satisfacción</a:t>
            </a:r>
            <a:endParaRPr lang="en-US" sz="1300" dirty="0"/>
          </a:p>
        </p:txBody>
      </p:sp>
      <p:sp>
        <p:nvSpPr>
          <p:cNvPr id="45" name="Text 39"/>
          <p:cNvSpPr/>
          <p:nvPr/>
        </p:nvSpPr>
        <p:spPr>
          <a:xfrm>
            <a:off x="9052560" y="5010912"/>
            <a:ext cx="2606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inicial 4/5</a:t>
            </a:r>
            <a:endParaRPr lang="en-US" sz="1150" dirty="0"/>
          </a:p>
        </p:txBody>
      </p:sp>
      <p:sp>
        <p:nvSpPr>
          <p:cNvPr id="46" name="Text 4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Club de Leones Quinta Normal  ·  Modelo de arriendo Z-144</a:t>
            </a:r>
            <a:endParaRPr lang="en-US" sz="900" dirty="0"/>
          </a:p>
        </p:txBody>
      </p:sp>
      <p:sp>
        <p:nvSpPr>
          <p:cNvPr id="47" name="Text 4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410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4114800"/>
            <a:ext cx="5486400" cy="5486400"/>
          </a:xfrm>
          <a:prstGeom prst="ellipse">
            <a:avLst/>
          </a:prstGeom>
          <a:solidFill>
            <a:srgbClr val="3A1959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685800" cy="685800"/>
          </a:xfrm>
          <a:prstGeom prst="ellipse">
            <a:avLst/>
          </a:prstGeom>
          <a:solidFill>
            <a:srgbClr val="C89B3C"/>
          </a:solidFill>
          <a:ln/>
        </p:spPr>
      </p:sp>
      <p:pic>
        <p:nvPicPr>
          <p:cNvPr id="4" name="Image 0" descr="/tmp/claude-0/-home-user-claude/0923df48-5d83-51f5-979f-5e84a3f1a801/scratchpad/ppt/icons/gave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9264" y="969264"/>
            <a:ext cx="393192" cy="39319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737360" y="868680"/>
            <a:ext cx="9144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Acuerdo propuesto para la Junta</a:t>
            </a:r>
            <a:endParaRPr lang="en-US" sz="2800" dirty="0"/>
          </a:p>
        </p:txBody>
      </p:sp>
      <p:sp>
        <p:nvSpPr>
          <p:cNvPr id="6" name="Text 3"/>
          <p:cNvSpPr/>
          <p:nvPr/>
        </p:nvSpPr>
        <p:spPr>
          <a:xfrm>
            <a:off x="822960" y="1965960"/>
            <a:ext cx="104241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700" dirty="0">
                <a:solidFill>
                  <a:srgbClr val="F6EF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Junta Directiva aprueba, con carácter piloto por 90 días desde la primera reserva confirmada, el modelo de arriendo, tarifario, garantías, políticas de cancelación, horarios y controles de este informe.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822960" y="3520440"/>
            <a:ext cx="384048" cy="384048"/>
          </a:xfrm>
          <a:prstGeom prst="ellipse">
            <a:avLst/>
          </a:prstGeom>
          <a:solidFill>
            <a:srgbClr val="3A1959"/>
          </a:solidFill>
          <a:ln/>
        </p:spPr>
      </p:sp>
      <p:pic>
        <p:nvPicPr>
          <p:cNvPr id="8" name="Image 1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" y="3666744"/>
            <a:ext cx="91440" cy="914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71600" y="350215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Aprobar tarifario, garantías y políticas del piloto.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822960" y="4114800"/>
            <a:ext cx="384048" cy="384048"/>
          </a:xfrm>
          <a:prstGeom prst="ellipse">
            <a:avLst/>
          </a:prstGeom>
          <a:solidFill>
            <a:srgbClr val="3A1959"/>
          </a:solidFill>
          <a:ln/>
        </p:spPr>
      </p:sp>
      <p:pic>
        <p:nvPicPr>
          <p:cNvPr id="11" name="Image 2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9264" y="4261104"/>
            <a:ext cx="91440" cy="9144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371600" y="409651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Designar responsables de reservas, pagos e inventario.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822960" y="4709160"/>
            <a:ext cx="384048" cy="384048"/>
          </a:xfrm>
          <a:prstGeom prst="ellipse">
            <a:avLst/>
          </a:prstGeom>
          <a:solidFill>
            <a:srgbClr val="3A1959"/>
          </a:solidFill>
          <a:ln/>
        </p:spPr>
      </p:sp>
      <p:pic>
        <p:nvPicPr>
          <p:cNvPr id="14" name="Image 3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264" y="4855464"/>
            <a:ext cx="91440" cy="9144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371600" y="469087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Habilitar el salón principal como primer espacio comercial.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822960" y="5303520"/>
            <a:ext cx="384048" cy="384048"/>
          </a:xfrm>
          <a:prstGeom prst="ellipse">
            <a:avLst/>
          </a:prstGeom>
          <a:solidFill>
            <a:srgbClr val="3A1959"/>
          </a:solidFill>
          <a:ln/>
        </p:spPr>
      </p:sp>
      <p:pic>
        <p:nvPicPr>
          <p:cNvPr id="17" name="Image 4" descr="/tmp/claude-0/-home-user-claude/0923df48-5d83-51f5-979f-5e84a3f1a801/scratchpad/ppt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69264" y="5449824"/>
            <a:ext cx="91440" cy="91440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1371600" y="5285232"/>
            <a:ext cx="9601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resultados mensualmente y resolver al día 90.</a:t>
            </a:r>
            <a:endParaRPr lang="en-US" sz="1500" dirty="0"/>
          </a:p>
        </p:txBody>
      </p:sp>
      <p:sp>
        <p:nvSpPr>
          <p:cNvPr id="19" name="Text 12"/>
          <p:cNvSpPr/>
          <p:nvPr/>
        </p:nvSpPr>
        <p:spPr>
          <a:xfrm>
            <a:off x="822960" y="6355080"/>
            <a:ext cx="9144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Versión para deliberación · Club de Leones Quinta Normal · Septiembre 2026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2026-09-05T00:03:01Z</dcterms:created>
  <dcterms:modified xsi:type="dcterms:W3CDTF">2026-09-05T00:03:01Z</dcterms:modified>
</cp:coreProperties>
</file>